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7" r:id="rId5"/>
    <p:sldId id="259" r:id="rId6"/>
    <p:sldId id="282" r:id="rId7"/>
    <p:sldId id="261" r:id="rId8"/>
    <p:sldId id="262" r:id="rId9"/>
    <p:sldId id="264" r:id="rId10"/>
    <p:sldId id="270" r:id="rId11"/>
    <p:sldId id="283" r:id="rId28"/>
    <p:sldId id="280" r:id="rId15"/>
    <p:sldId id="260" r:id="rId16"/>
    <p:sldId id="263" r:id="rId17"/>
    <p:sldId id="272" r:id="rId18"/>
    <p:sldId id="271" r:id="rId19"/>
    <p:sldId id="267" r:id="rId20"/>
    <p:sldId id="265" r:id="rId21"/>
  </p:sldIdLst>
  <p:sldSz cx="9144000" cy="6858000" type="screen4x3"/>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D9039-CF29-47E6-A02A-9E9621156566}" v="1916" dt="2026-07-15T19:49:33.4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3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 Id="rId28"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404E5667-812A-4998-8022-9B20ACAECC32}" type="datetimeFigureOut">
              <a:rPr lang="en-US" smtClean="0"/>
              <a:t>10/28/2026</a:t>
            </a:fld>
            <a:endParaRPr lang="en-US"/>
          </a:p>
        </p:txBody>
      </p:sp>
      <p:sp>
        <p:nvSpPr>
          <p:cNvPr id="4" name="Slide Image Placeholder 3"/>
          <p:cNvSpPr>
            <a:spLocks noGrp="1" noRot="1" noChangeAspect="1"/>
          </p:cNvSpPr>
          <p:nvPr>
            <p:ph type="sldImg" idx="2"/>
          </p:nvPr>
        </p:nvSpPr>
        <p:spPr>
          <a:xfrm>
            <a:off x="1427163" y="1154113"/>
            <a:ext cx="4156075"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5FC0572D-D276-4D93-A3E8-00EF00F583F6}" type="slidenum">
              <a:rPr lang="en-US" smtClean="0"/>
              <a:t>‹#›</a:t>
            </a:fld>
            <a:endParaRPr lang="en-US"/>
          </a:p>
        </p:txBody>
      </p:sp>
    </p:spTree>
    <p:extLst>
      <p:ext uri="{BB962C8B-B14F-4D97-AF65-F5344CB8AC3E}">
        <p14:creationId xmlns:p14="http://schemas.microsoft.com/office/powerpoint/2010/main" val="1240534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610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3427070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398100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6" name="Footer Placeholder 5"/>
          <p:cNvSpPr>
            <a:spLocks noGrp="1"/>
          </p:cNvSpPr>
          <p:nvPr>
            <p:ph type="ftr" sz="quarter" idx="11"/>
          </p:nvPr>
        </p:nvSpPr>
        <p:spPr>
          <a:xfrm>
            <a:off x="3028950" y="6356353"/>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1199500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8" name="Footer Placeholder 7"/>
          <p:cNvSpPr>
            <a:spLocks noGrp="1"/>
          </p:cNvSpPr>
          <p:nvPr>
            <p:ph type="ftr" sz="quarter" idx="11"/>
          </p:nvPr>
        </p:nvSpPr>
        <p:spPr>
          <a:xfrm>
            <a:off x="3028950" y="6356353"/>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3019836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2788966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3" name="Footer Placeholder 2"/>
          <p:cNvSpPr>
            <a:spLocks noGrp="1"/>
          </p:cNvSpPr>
          <p:nvPr>
            <p:ph type="ftr" sz="quarter" idx="11"/>
          </p:nvPr>
        </p:nvSpPr>
        <p:spPr>
          <a:xfrm>
            <a:off x="3028950" y="6356353"/>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117462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6" name="Footer Placeholder 5"/>
          <p:cNvSpPr>
            <a:spLocks noGrp="1"/>
          </p:cNvSpPr>
          <p:nvPr>
            <p:ph type="ftr" sz="quarter" idx="11"/>
          </p:nvPr>
        </p:nvSpPr>
        <p:spPr>
          <a:xfrm>
            <a:off x="3028950" y="6356353"/>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1156518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6" name="Footer Placeholder 5"/>
          <p:cNvSpPr>
            <a:spLocks noGrp="1"/>
          </p:cNvSpPr>
          <p:nvPr>
            <p:ph type="ftr" sz="quarter" idx="11"/>
          </p:nvPr>
        </p:nvSpPr>
        <p:spPr>
          <a:xfrm>
            <a:off x="3028950" y="6356353"/>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2887871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634168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58A91318-5062-43B6-950F-5B0E57A9141C}" type="datetimeFigureOut">
              <a:rPr lang="en-US" smtClean="0"/>
              <a:t>10/28/2026</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8F6E8DB2-EF4D-4A2A-AC9B-741B27618277}" type="slidenum">
              <a:rPr lang="en-US" smtClean="0"/>
              <a:t>‹#›</a:t>
            </a:fld>
            <a:endParaRPr lang="en-US"/>
          </a:p>
        </p:txBody>
      </p:sp>
    </p:spTree>
    <p:extLst>
      <p:ext uri="{BB962C8B-B14F-4D97-AF65-F5344CB8AC3E}">
        <p14:creationId xmlns:p14="http://schemas.microsoft.com/office/powerpoint/2010/main" val="292902597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hyperlink" Target="http://upload.wikimedia.org/wikipedia/en/8/89/177thArmorBde.jpg" TargetMode="External"/><Relationship Id="rId15" Type="http://schemas.openxmlformats.org/officeDocument/2006/relationships/image" Target="../media/image2.jpeg"/><Relationship Id="rId16"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097" y="-11170"/>
            <a:ext cx="7886700" cy="97404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0" y="1244538"/>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Box 2">
            <a:extLst>
              <a:ext uri="{FF2B5EF4-FFF2-40B4-BE49-F238E27FC236}">
                <a16:creationId xmlns:a16="http://schemas.microsoft.com/office/drawing/2014/main" id="{FB978EC7-187C-422F-111D-CC66C57D5116}"/>
              </a:ext>
            </a:extLst>
          </p:cNvPr>
          <p:cNvSpPr txBox="1">
            <a:spLocks noChangeArrowheads="1"/>
          </p:cNvSpPr>
          <p:nvPr userDrawn="1"/>
        </p:nvSpPr>
        <p:spPr bwMode="auto">
          <a:xfrm>
            <a:off x="2438401" y="0"/>
            <a:ext cx="184731" cy="523220"/>
          </a:xfrm>
          <a:prstGeom prst="rect">
            <a:avLst/>
          </a:prstGeom>
          <a:noFill/>
          <a:ln w="9525">
            <a:noFill/>
            <a:miter lim="800000"/>
            <a:headEnd/>
            <a:tailEnd/>
          </a:ln>
          <a:effectLst/>
        </p:spPr>
        <p:txBody>
          <a:bodyPr wrap="none">
            <a:spAutoFit/>
          </a:bodyPr>
          <a:lstStyle/>
          <a:p>
            <a:pPr fontAlgn="auto">
              <a:spcBef>
                <a:spcPts val="0"/>
              </a:spcBef>
              <a:spcAft>
                <a:spcPts val="0"/>
              </a:spcAft>
              <a:defRPr/>
            </a:pPr>
            <a:endParaRPr lang="en-US" sz="2800">
              <a:solidFill>
                <a:srgbClr val="000000"/>
              </a:solidFill>
              <a:latin typeface="Arial"/>
              <a:cs typeface="+mn-cs"/>
            </a:endParaRPr>
          </a:p>
        </p:txBody>
      </p:sp>
      <p:grpSp>
        <p:nvGrpSpPr>
          <p:cNvPr id="8" name="Group 12">
            <a:extLst>
              <a:ext uri="{FF2B5EF4-FFF2-40B4-BE49-F238E27FC236}">
                <a16:creationId xmlns:a16="http://schemas.microsoft.com/office/drawing/2014/main" id="{1135C537-E7CC-F71D-7CC7-FA515364322C}"/>
              </a:ext>
            </a:extLst>
          </p:cNvPr>
          <p:cNvGrpSpPr>
            <a:grpSpLocks/>
          </p:cNvGrpSpPr>
          <p:nvPr userDrawn="1"/>
        </p:nvGrpSpPr>
        <p:grpSpPr bwMode="auto">
          <a:xfrm>
            <a:off x="0" y="955392"/>
            <a:ext cx="9144000" cy="82109"/>
            <a:chOff x="192" y="1017"/>
            <a:chExt cx="5374" cy="88"/>
          </a:xfrm>
        </p:grpSpPr>
        <p:sp>
          <p:nvSpPr>
            <p:cNvPr id="9" name="Rectangle 8">
              <a:extLst>
                <a:ext uri="{FF2B5EF4-FFF2-40B4-BE49-F238E27FC236}">
                  <a16:creationId xmlns:a16="http://schemas.microsoft.com/office/drawing/2014/main" id="{24E1899F-30B6-7AFF-42E1-98CF83C69704}"/>
                </a:ext>
              </a:extLst>
            </p:cNvPr>
            <p:cNvSpPr>
              <a:spLocks noChangeArrowheads="1"/>
            </p:cNvSpPr>
            <p:nvPr userDrawn="1"/>
          </p:nvSpPr>
          <p:spPr bwMode="auto">
            <a:xfrm>
              <a:off x="192" y="1017"/>
              <a:ext cx="5374" cy="49"/>
            </a:xfrm>
            <a:prstGeom prst="rect">
              <a:avLst/>
            </a:prstGeom>
            <a:solidFill>
              <a:schemeClr val="tx1"/>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2400">
                <a:solidFill>
                  <a:srgbClr val="000000"/>
                </a:solidFill>
                <a:latin typeface="Arial"/>
              </a:endParaRPr>
            </a:p>
          </p:txBody>
        </p:sp>
        <p:sp>
          <p:nvSpPr>
            <p:cNvPr id="10" name="Rectangle 9">
              <a:extLst>
                <a:ext uri="{FF2B5EF4-FFF2-40B4-BE49-F238E27FC236}">
                  <a16:creationId xmlns:a16="http://schemas.microsoft.com/office/drawing/2014/main" id="{A7C718FF-37D0-5C00-ABC5-EC705F69029C}"/>
                </a:ext>
              </a:extLst>
            </p:cNvPr>
            <p:cNvSpPr>
              <a:spLocks noChangeArrowheads="1"/>
            </p:cNvSpPr>
            <p:nvPr userDrawn="1"/>
          </p:nvSpPr>
          <p:spPr bwMode="auto">
            <a:xfrm>
              <a:off x="192" y="1066"/>
              <a:ext cx="5374" cy="39"/>
            </a:xfrm>
            <a:prstGeom prst="rect">
              <a:avLst/>
            </a:prstGeom>
            <a:solidFill>
              <a:srgbClr val="FFCC00"/>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2400">
                <a:solidFill>
                  <a:srgbClr val="000000"/>
                </a:solidFill>
                <a:latin typeface="Arial"/>
              </a:endParaRPr>
            </a:p>
          </p:txBody>
        </p:sp>
      </p:grpSp>
      <p:grpSp>
        <p:nvGrpSpPr>
          <p:cNvPr id="11" name="Group 10">
            <a:extLst>
              <a:ext uri="{FF2B5EF4-FFF2-40B4-BE49-F238E27FC236}">
                <a16:creationId xmlns:a16="http://schemas.microsoft.com/office/drawing/2014/main" id="{7A7F206F-8574-271C-9DCA-6CDB17FD59C8}"/>
              </a:ext>
            </a:extLst>
          </p:cNvPr>
          <p:cNvGrpSpPr/>
          <p:nvPr userDrawn="1"/>
        </p:nvGrpSpPr>
        <p:grpSpPr>
          <a:xfrm>
            <a:off x="-4768" y="6555417"/>
            <a:ext cx="9148768" cy="300316"/>
            <a:chOff x="-4768" y="6553200"/>
            <a:chExt cx="9148768" cy="300316"/>
          </a:xfrm>
        </p:grpSpPr>
        <p:sp>
          <p:nvSpPr>
            <p:cNvPr id="12" name="Rectangle 11">
              <a:extLst>
                <a:ext uri="{FF2B5EF4-FFF2-40B4-BE49-F238E27FC236}">
                  <a16:creationId xmlns:a16="http://schemas.microsoft.com/office/drawing/2014/main" id="{9E262B9E-5198-3EF7-4A12-A3E31389C672}"/>
                </a:ext>
              </a:extLst>
            </p:cNvPr>
            <p:cNvSpPr>
              <a:spLocks noChangeArrowheads="1"/>
            </p:cNvSpPr>
            <p:nvPr userDrawn="1"/>
          </p:nvSpPr>
          <p:spPr bwMode="auto">
            <a:xfrm>
              <a:off x="0" y="6553200"/>
              <a:ext cx="9144000" cy="300316"/>
            </a:xfrm>
            <a:prstGeom prst="rect">
              <a:avLst/>
            </a:prstGeom>
            <a:solidFill>
              <a:schemeClr val="tx1"/>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2400">
                <a:solidFill>
                  <a:srgbClr val="FFFFFF"/>
                </a:solidFill>
                <a:latin typeface="Arial"/>
              </a:endParaRPr>
            </a:p>
          </p:txBody>
        </p:sp>
        <p:sp>
          <p:nvSpPr>
            <p:cNvPr id="13" name="Rectangle 12">
              <a:extLst>
                <a:ext uri="{FF2B5EF4-FFF2-40B4-BE49-F238E27FC236}">
                  <a16:creationId xmlns:a16="http://schemas.microsoft.com/office/drawing/2014/main" id="{E256BEEA-0D31-6B10-BC98-175C742CFAF0}"/>
                </a:ext>
              </a:extLst>
            </p:cNvPr>
            <p:cNvSpPr>
              <a:spLocks noChangeArrowheads="1"/>
            </p:cNvSpPr>
            <p:nvPr userDrawn="1"/>
          </p:nvSpPr>
          <p:spPr bwMode="auto">
            <a:xfrm>
              <a:off x="-4768" y="6561750"/>
              <a:ext cx="9144000" cy="45720"/>
            </a:xfrm>
            <a:prstGeom prst="rect">
              <a:avLst/>
            </a:prstGeom>
            <a:solidFill>
              <a:srgbClr val="FFC000"/>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2400">
                <a:solidFill>
                  <a:srgbClr val="FFFFFF"/>
                </a:solidFill>
                <a:latin typeface="Arial"/>
              </a:endParaRPr>
            </a:p>
          </p:txBody>
        </p:sp>
      </p:grpSp>
      <p:sp>
        <p:nvSpPr>
          <p:cNvPr id="14" name="TextBox 13">
            <a:extLst>
              <a:ext uri="{FF2B5EF4-FFF2-40B4-BE49-F238E27FC236}">
                <a16:creationId xmlns:a16="http://schemas.microsoft.com/office/drawing/2014/main" id="{151DA07B-7A6B-BD71-3C43-1DD0893D4054}"/>
              </a:ext>
            </a:extLst>
          </p:cNvPr>
          <p:cNvSpPr txBox="1"/>
          <p:nvPr userDrawn="1"/>
        </p:nvSpPr>
        <p:spPr>
          <a:xfrm>
            <a:off x="3643087" y="6635431"/>
            <a:ext cx="1851686" cy="184666"/>
          </a:xfrm>
          <a:prstGeom prst="rect">
            <a:avLst/>
          </a:prstGeom>
          <a:noFill/>
          <a:ln>
            <a:noFill/>
          </a:ln>
        </p:spPr>
        <p:txBody>
          <a:bodyPr wrap="square" lIns="0" tIns="0" rIns="0" bIns="0" anchor="ctr">
            <a:noAutofit/>
          </a:bodyPr>
          <a:lstStyle/>
          <a:p>
            <a:pPr algn="ctr" fontAlgn="auto">
              <a:spcBef>
                <a:spcPts val="0"/>
              </a:spcBef>
              <a:spcAft>
                <a:spcPts val="0"/>
              </a:spcAft>
              <a:defRPr/>
            </a:pPr>
            <a:r>
              <a:rPr lang="en-US" sz="1200" b="1">
                <a:solidFill>
                  <a:srgbClr val="008000"/>
                </a:solidFill>
                <a:latin typeface="Arial" pitchFamily="34" charset="0"/>
                <a:cs typeface="Arial" pitchFamily="34" charset="0"/>
              </a:rPr>
              <a:t>CUI</a:t>
            </a:r>
          </a:p>
        </p:txBody>
      </p:sp>
      <p:sp>
        <p:nvSpPr>
          <p:cNvPr id="16" name="Rectangle 15">
            <a:extLst>
              <a:ext uri="{FF2B5EF4-FFF2-40B4-BE49-F238E27FC236}">
                <a16:creationId xmlns:a16="http://schemas.microsoft.com/office/drawing/2014/main" id="{0852D782-5EB7-D45B-70D2-C701F50F1CB3}"/>
              </a:ext>
            </a:extLst>
          </p:cNvPr>
          <p:cNvSpPr/>
          <p:nvPr userDrawn="1"/>
        </p:nvSpPr>
        <p:spPr>
          <a:xfrm>
            <a:off x="7469330" y="6553200"/>
            <a:ext cx="1977738" cy="369332"/>
          </a:xfrm>
          <a:prstGeom prst="rect">
            <a:avLst/>
          </a:prstGeom>
          <a:noFill/>
          <a:ln>
            <a:noFill/>
          </a:ln>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fontAlgn="auto">
              <a:spcBef>
                <a:spcPts val="0"/>
              </a:spcBef>
              <a:spcAft>
                <a:spcPts val="0"/>
              </a:spcAft>
            </a:pPr>
            <a:r>
              <a:rPr lang="en-US" sz="1800" b="1" i="1">
                <a:ln w="50800"/>
                <a:solidFill>
                  <a:srgbClr val="FFC000"/>
                </a:solidFill>
                <a:latin typeface="Arial"/>
                <a:cs typeface="+mn-cs"/>
              </a:rPr>
              <a:t>Rise Above!</a:t>
            </a:r>
          </a:p>
        </p:txBody>
      </p:sp>
      <p:sp>
        <p:nvSpPr>
          <p:cNvPr id="18" name="Rectangle 17">
            <a:extLst>
              <a:ext uri="{FF2B5EF4-FFF2-40B4-BE49-F238E27FC236}">
                <a16:creationId xmlns:a16="http://schemas.microsoft.com/office/drawing/2014/main" id="{2A6BB2D8-4074-FBDE-5522-956F85A54C59}"/>
              </a:ext>
            </a:extLst>
          </p:cNvPr>
          <p:cNvSpPr>
            <a:spLocks noChangeArrowheads="1"/>
          </p:cNvSpPr>
          <p:nvPr userDrawn="1"/>
        </p:nvSpPr>
        <p:spPr bwMode="auto">
          <a:xfrm>
            <a:off x="560" y="1042653"/>
            <a:ext cx="9144000" cy="9144"/>
          </a:xfrm>
          <a:prstGeom prst="rect">
            <a:avLst/>
          </a:prstGeom>
          <a:solidFill>
            <a:schemeClr val="tx1"/>
          </a:solidFill>
          <a:ln w="9525">
            <a:solidFill>
              <a:srgbClr val="000000"/>
            </a:solid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2400">
              <a:solidFill>
                <a:srgbClr val="000000"/>
              </a:solidFill>
              <a:latin typeface="Arial"/>
            </a:endParaRPr>
          </a:p>
        </p:txBody>
      </p:sp>
      <p:grpSp>
        <p:nvGrpSpPr>
          <p:cNvPr id="19" name="Group 18">
            <a:extLst>
              <a:ext uri="{FF2B5EF4-FFF2-40B4-BE49-F238E27FC236}">
                <a16:creationId xmlns:a16="http://schemas.microsoft.com/office/drawing/2014/main" id="{0B75E817-3670-46D9-D565-3E5E6D1B14C1}"/>
              </a:ext>
            </a:extLst>
          </p:cNvPr>
          <p:cNvGrpSpPr/>
          <p:nvPr userDrawn="1"/>
        </p:nvGrpSpPr>
        <p:grpSpPr>
          <a:xfrm>
            <a:off x="100570" y="110631"/>
            <a:ext cx="585231" cy="864737"/>
            <a:chOff x="8077200" y="76200"/>
            <a:chExt cx="1113932" cy="1417342"/>
          </a:xfrm>
        </p:grpSpPr>
        <p:pic>
          <p:nvPicPr>
            <p:cNvPr id="20" name="Picture 19" descr="1A Patch.png">
              <a:extLst>
                <a:ext uri="{FF2B5EF4-FFF2-40B4-BE49-F238E27FC236}">
                  <a16:creationId xmlns:a16="http://schemas.microsoft.com/office/drawing/2014/main" id="{F51A8D31-FDDE-4F23-BA7A-6274F5F24B0B}"/>
                </a:ext>
              </a:extLst>
            </p:cNvPr>
            <p:cNvPicPr>
              <a:picLocks noChangeAspect="1"/>
            </p:cNvPicPr>
            <p:nvPr userDrawn="1"/>
          </p:nvPicPr>
          <p:blipFill>
            <a:blip r:embed="rId13" cstate="print"/>
            <a:stretch>
              <a:fillRect/>
            </a:stretch>
          </p:blipFill>
          <p:spPr>
            <a:xfrm>
              <a:off x="8077200" y="76200"/>
              <a:ext cx="714703" cy="886691"/>
            </a:xfrm>
            <a:prstGeom prst="rect">
              <a:avLst/>
            </a:prstGeom>
          </p:spPr>
        </p:pic>
        <p:pic>
          <p:nvPicPr>
            <p:cNvPr id="21" name="Picture 20" descr="Thumbnail for version as of 17:46, 5 February 2010">
              <a:hlinkClick r:id="rId14"/>
              <a:extLst>
                <a:ext uri="{FF2B5EF4-FFF2-40B4-BE49-F238E27FC236}">
                  <a16:creationId xmlns:a16="http://schemas.microsoft.com/office/drawing/2014/main" id="{BCBF993D-C032-F723-45B7-DBED554F3A9B}"/>
                </a:ext>
              </a:extLst>
            </p:cNvPr>
            <p:cNvPicPr>
              <a:picLocks noChangeAspect="1" noChangeArrowheads="1"/>
            </p:cNvPicPr>
            <p:nvPr userDrawn="1"/>
          </p:nvPicPr>
          <p:blipFill>
            <a:blip r:embed="rId15" cstate="print">
              <a:clrChange>
                <a:clrFrom>
                  <a:srgbClr val="FFFFFF"/>
                </a:clrFrom>
                <a:clrTo>
                  <a:srgbClr val="FFFFFF">
                    <a:alpha val="0"/>
                  </a:srgbClr>
                </a:clrTo>
              </a:clrChange>
            </a:blip>
            <a:srcRect/>
            <a:stretch>
              <a:fillRect/>
            </a:stretch>
          </p:blipFill>
          <p:spPr bwMode="auto">
            <a:xfrm>
              <a:off x="8382000" y="432241"/>
              <a:ext cx="809132" cy="1061301"/>
            </a:xfrm>
            <a:prstGeom prst="rect">
              <a:avLst/>
            </a:prstGeom>
            <a:noFill/>
            <a:ln w="9525">
              <a:noFill/>
              <a:miter lim="800000"/>
              <a:headEnd/>
              <a:tailEnd/>
            </a:ln>
          </p:spPr>
        </p:pic>
      </p:grpSp>
      <p:pic>
        <p:nvPicPr>
          <p:cNvPr id="22" name="Picture 21">
            <a:extLst>
              <a:ext uri="{FF2B5EF4-FFF2-40B4-BE49-F238E27FC236}">
                <a16:creationId xmlns:a16="http://schemas.microsoft.com/office/drawing/2014/main" id="{06BE9FB9-FAF3-0D9A-2C2C-C322D639142A}"/>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565357" y="105867"/>
            <a:ext cx="504914" cy="740416"/>
          </a:xfrm>
          <a:prstGeom prst="rect">
            <a:avLst/>
          </a:prstGeom>
        </p:spPr>
      </p:pic>
    </p:spTree>
    <p:extLst>
      <p:ext uri="{BB962C8B-B14F-4D97-AF65-F5344CB8AC3E}">
        <p14:creationId xmlns:p14="http://schemas.microsoft.com/office/powerpoint/2010/main" val="112352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IdTMDpizis8" TargetMode="Externa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B11903-74A3-B94A-450D-24FE78C65E71}"/>
              </a:ext>
            </a:extLst>
          </p:cNvPr>
          <p:cNvSpPr>
            <a:spLocks noGrp="1"/>
          </p:cNvSpPr>
          <p:nvPr>
            <p:ph type="title"/>
          </p:nvPr>
        </p:nvSpPr>
        <p:spPr/>
        <p:txBody>
          <a:bodyPr/>
          <a:lstStyle/>
          <a:p>
            <a:r>
              <a:rPr lang="en-US"/>
              <a:t>{{UNIT}}</a:t>
            </a:r>
          </a:p>
        </p:txBody>
      </p:sp>
      <p:sp>
        <p:nvSpPr>
          <p:cNvPr id="8" name="Title 4">
            <a:extLst>
              <a:ext uri="{FF2B5EF4-FFF2-40B4-BE49-F238E27FC236}">
                <a16:creationId xmlns:a16="http://schemas.microsoft.com/office/drawing/2014/main" id="{FE1138FC-EBC8-EB83-B1C9-4B3FDE02C078}"/>
              </a:ext>
            </a:extLst>
          </p:cNvPr>
          <p:cNvSpPr txBox="1">
            <a:spLocks/>
          </p:cNvSpPr>
          <p:nvPr/>
        </p:nvSpPr>
        <p:spPr>
          <a:xfrm>
            <a:off x="678097" y="5553770"/>
            <a:ext cx="7886700" cy="974043"/>
          </a:xfrm>
          <a:prstGeom prst="rect">
            <a:avLst/>
          </a:prstGeom>
        </p:spPr>
        <p:txBody>
          <a:bodyPr vert="horz" lIns="91440" tIns="45720" rIns="91440" bIns="45720" rtlCol="0" anchor="ctr">
            <a:normAutofit fontScale="92500" lnSpcReduction="1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{{EVENT}} FAAR</a:t>
            </a:r>
          </a:p>
          <a:p>
            <a:r>
              <a:rPr lang="en-US" sz="2600"/>
              <a:t>{{BRIEF_DATE}}</a:t>
            </a:r>
          </a:p>
        </p:txBody>
      </p:sp>
    </p:spTree>
    <p:extLst>
      <p:ext uri="{BB962C8B-B14F-4D97-AF65-F5344CB8AC3E}">
        <p14:creationId xmlns:p14="http://schemas.microsoft.com/office/powerpoint/2010/main" val="4227152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B320-2787-3471-D87F-BEF6E7E4DF59}"/>
              </a:ext>
            </a:extLst>
          </p:cNvPr>
          <p:cNvSpPr>
            <a:spLocks noGrp="1"/>
          </p:cNvSpPr>
          <p:nvPr>
            <p:ph type="title"/>
          </p:nvPr>
        </p:nvSpPr>
        <p:spPr/>
        <p:txBody>
          <a:bodyPr/>
          <a:lstStyle/>
          <a:p>
            <a:r>
              <a:rPr lang="en-US"/>
              <a:t>Agenda</a:t>
            </a:r>
          </a:p>
        </p:txBody>
      </p:sp>
      <p:sp>
        <p:nvSpPr>
          <p:cNvPr id="13" name="Content Placeholder 2">
            <a:extLst>
              <a:ext uri="{FF2B5EF4-FFF2-40B4-BE49-F238E27FC236}">
                <a16:creationId xmlns:a16="http://schemas.microsoft.com/office/drawing/2014/main" id="{DA266E06-F208-AED4-67AD-4419C10CE913}"/>
              </a:ext>
            </a:extLst>
          </p:cNvPr>
          <p:cNvSpPr txBox="1">
            <a:spLocks noGrp="1"/>
          </p:cNvSpPr>
          <p:nvPr>
            <p:ph idx="1"/>
          </p:nvPr>
        </p:nvSpPr>
        <p:spPr>
          <a:xfrm>
            <a:off x="628650" y="1530349"/>
            <a:ext cx="7886700" cy="5107039"/>
          </a:xfrm>
          <a:prstGeom prst="rect">
            <a:avLst/>
          </a:prstGeom>
        </p:spPr>
        <p:txBody>
          <a:bodyPr vert="horz" lIns="91440" tIns="45720" rIns="9144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Tx/>
              <a:buFont typeface="Wingdings" panose="05000000000000000000" pitchFamily="2" charset="2"/>
              <a:buChar char="§"/>
            </a:pPr>
            <a:r>
              <a:rPr lang="en-US" sz="2400" dirty="0">
                <a:solidFill>
                  <a:schemeClr val="tx1"/>
                </a:solidFill>
                <a:latin typeface="Arial"/>
                <a:cs typeface="Arial"/>
              </a:rPr>
              <a:t> Purpose/Rules of an AAR</a:t>
            </a:r>
          </a:p>
          <a:p>
            <a:pPr>
              <a:buClrTx/>
              <a:buFont typeface="Wingdings" panose="05000000000000000000" pitchFamily="2" charset="2"/>
              <a:buChar char="§"/>
            </a:pPr>
            <a:r>
              <a:rPr lang="en-US" sz="2400" dirty="0">
                <a:solidFill>
                  <a:schemeClr val="tx1"/>
                </a:solidFill>
                <a:latin typeface="Arial"/>
                <a:cs typeface="Arial"/>
              </a:rPr>
              <a:t> Mission, METs, &amp; CDR Training Objectives</a:t>
            </a:r>
          </a:p>
          <a:p>
            <a:pPr>
              <a:buClrTx/>
              <a:buFont typeface="Wingdings" panose="05000000000000000000" pitchFamily="2" charset="2"/>
              <a:buChar char="§"/>
            </a:pPr>
            <a:r>
              <a:rPr lang="en-US" sz="2400" dirty="0">
                <a:solidFill>
                  <a:schemeClr val="tx1"/>
                </a:solidFill>
                <a:latin typeface="Arial"/>
                <a:cs typeface="Arial"/>
              </a:rPr>
              <a:t> MAAR Deliverables</a:t>
            </a:r>
          </a:p>
          <a:p>
            <a:pPr>
              <a:buClrTx/>
              <a:buFont typeface="Wingdings" panose="05000000000000000000" pitchFamily="2" charset="2"/>
              <a:buChar char="§"/>
            </a:pPr>
            <a:r>
              <a:rPr lang="en-US" sz="2400" dirty="0">
                <a:solidFill>
                  <a:schemeClr val="tx1"/>
                </a:solidFill>
                <a:latin typeface="Arial"/>
                <a:cs typeface="Arial"/>
              </a:rPr>
              <a:t> AAR Discussion</a:t>
            </a:r>
          </a:p>
          <a:p>
            <a:pPr>
              <a:buClrTx/>
              <a:buFont typeface="Wingdings" panose="05000000000000000000" pitchFamily="2" charset="2"/>
              <a:buChar char="§"/>
            </a:pPr>
            <a:r>
              <a:rPr lang="en-US" sz="2400" dirty="0">
                <a:solidFill>
                  <a:schemeClr val="tx1"/>
                </a:solidFill>
                <a:latin typeface="Arial"/>
                <a:cs typeface="Arial"/>
              </a:rPr>
              <a:t> References</a:t>
            </a:r>
          </a:p>
          <a:p>
            <a:pPr>
              <a:buClrTx/>
              <a:buFont typeface="Wingdings" panose="05000000000000000000" pitchFamily="2" charset="2"/>
              <a:buChar char="§"/>
            </a:pPr>
            <a:r>
              <a:rPr lang="en-US" sz="2400" dirty="0">
                <a:solidFill>
                  <a:schemeClr val="tx1"/>
                </a:solidFill>
                <a:latin typeface="Arial"/>
                <a:cs typeface="Arial"/>
              </a:rPr>
              <a:t> Closing Remarks</a:t>
            </a:r>
          </a:p>
        </p:txBody>
      </p:sp>
    </p:spTree>
    <p:extLst>
      <p:ext uri="{BB962C8B-B14F-4D97-AF65-F5344CB8AC3E}">
        <p14:creationId xmlns:p14="http://schemas.microsoft.com/office/powerpoint/2010/main" val="184113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662936-35AC-2D1F-D563-3E1F956D5EA5}"/>
              </a:ext>
            </a:extLst>
          </p:cNvPr>
          <p:cNvSpPr txBox="1"/>
          <p:nvPr/>
        </p:nvSpPr>
        <p:spPr>
          <a:xfrm>
            <a:off x="1092608" y="5672902"/>
            <a:ext cx="6958781" cy="369332"/>
          </a:xfrm>
          <a:prstGeom prst="rect">
            <a:avLst/>
          </a:prstGeom>
          <a:noFill/>
        </p:spPr>
        <p:txBody>
          <a:bodyPr wrap="square">
            <a:spAutoFit/>
          </a:bodyPr>
          <a:lstStyle/>
          <a:p>
            <a:pPr algn="ctr"/>
            <a:r>
              <a:rPr lang="en-US" dirty="0">
                <a:hlinkClick r:id="rId2"/>
              </a:rPr>
              <a:t>https://www.youtube.com/watch?v=IdTMDpizis8</a:t>
            </a:r>
            <a:r>
              <a:rPr lang="en-US" dirty="0"/>
              <a:t> </a:t>
            </a:r>
          </a:p>
        </p:txBody>
      </p:sp>
      <p:pic>
        <p:nvPicPr>
          <p:cNvPr id="4" name="Picture 3">
            <a:extLst>
              <a:ext uri="{FF2B5EF4-FFF2-40B4-BE49-F238E27FC236}">
                <a16:creationId xmlns:a16="http://schemas.microsoft.com/office/drawing/2014/main" id="{B86F6B09-DE60-9A0F-096D-055FCBFCE1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9126" y="1653278"/>
            <a:ext cx="5705747" cy="3551444"/>
          </a:xfrm>
          <a:prstGeom prst="rect">
            <a:avLst/>
          </a:prstGeom>
        </p:spPr>
      </p:pic>
    </p:spTree>
    <p:extLst>
      <p:ext uri="{BB962C8B-B14F-4D97-AF65-F5344CB8AC3E}">
        <p14:creationId xmlns:p14="http://schemas.microsoft.com/office/powerpoint/2010/main" val="2389785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06DA-466D-E97B-3400-F3B8C5AC399F}"/>
              </a:ext>
            </a:extLst>
          </p:cNvPr>
          <p:cNvSpPr>
            <a:spLocks noGrp="1"/>
          </p:cNvSpPr>
          <p:nvPr>
            <p:ph type="title"/>
          </p:nvPr>
        </p:nvSpPr>
        <p:spPr/>
        <p:txBody>
          <a:bodyPr/>
          <a:lstStyle/>
          <a:p>
            <a:r>
              <a:rPr lang="en-US"/>
              <a:t>What is an AAR?</a:t>
            </a:r>
          </a:p>
        </p:txBody>
      </p:sp>
      <p:sp>
        <p:nvSpPr>
          <p:cNvPr id="4" name="TextBox 3">
            <a:extLst>
              <a:ext uri="{FF2B5EF4-FFF2-40B4-BE49-F238E27FC236}">
                <a16:creationId xmlns:a16="http://schemas.microsoft.com/office/drawing/2014/main" id="{FB413C42-9893-F011-7382-1B8ACBE47F1E}"/>
              </a:ext>
            </a:extLst>
          </p:cNvPr>
          <p:cNvSpPr txBox="1"/>
          <p:nvPr/>
        </p:nvSpPr>
        <p:spPr>
          <a:xfrm>
            <a:off x="381871" y="1825604"/>
            <a:ext cx="8479151" cy="41857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rgbClr val="000000"/>
                </a:solidFill>
                <a:effectLst/>
                <a:uLnTx/>
                <a:uFillTx/>
                <a:latin typeface="Arial" pitchFamily="34" charset="0"/>
                <a:ea typeface="+mn-ea"/>
                <a:cs typeface="Arial" pitchFamily="34" charset="0"/>
              </a:rPr>
              <a:t>Definition</a:t>
            </a:r>
            <a:r>
              <a:rPr kumimoji="0" lang="en-US" sz="1800" b="1" i="0" u="none" strike="noStrike" kern="1200" cap="none" spc="0" normalizeH="0" baseline="0" noProof="0" dirty="0">
                <a:ln>
                  <a:noFill/>
                </a:ln>
                <a:solidFill>
                  <a:srgbClr val="000000"/>
                </a:solidFill>
                <a:effectLst/>
                <a:uLnTx/>
                <a:uFillTx/>
                <a:latin typeface="Arial" pitchFamily="34" charset="0"/>
                <a:ea typeface="+mn-ea"/>
                <a:cs typeface="Arial" pitchFamily="34" charset="0"/>
              </a:rPr>
              <a:t>:</a:t>
            </a: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Arial"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Arial" pitchFamily="34" charset="0"/>
              </a:rPr>
              <a:t>a </a:t>
            </a:r>
            <a:r>
              <a:rPr kumimoji="0" lang="en-US" sz="1800" b="0" i="1" u="none" strike="noStrike" kern="1200" cap="none" spc="0" normalizeH="0" baseline="0" noProof="0" dirty="0">
                <a:ln>
                  <a:noFill/>
                </a:ln>
                <a:solidFill>
                  <a:srgbClr val="0000FF"/>
                </a:solidFill>
                <a:effectLst/>
                <a:uLnTx/>
                <a:uFillTx/>
                <a:latin typeface="Arial" pitchFamily="34" charset="0"/>
                <a:ea typeface="+mn-ea"/>
                <a:cs typeface="Arial" pitchFamily="34" charset="0"/>
              </a:rPr>
              <a:t>guided analysis </a:t>
            </a: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Arial" pitchFamily="34" charset="0"/>
              </a:rPr>
              <a:t>of an organization’s performance, conducted in a timely manner, at the conclusion of a training event with the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pitchFamily="34" charset="0"/>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1" u="sng" strike="noStrike" kern="1200" cap="none" spc="0" normalizeH="0" baseline="0" noProof="0" dirty="0">
                <a:ln>
                  <a:noFill/>
                </a:ln>
                <a:solidFill>
                  <a:srgbClr val="0000FF"/>
                </a:solidFill>
                <a:effectLst/>
                <a:uLnTx/>
                <a:uFillTx/>
                <a:latin typeface="Arial" pitchFamily="34" charset="0"/>
                <a:ea typeface="+mn-ea"/>
                <a:cs typeface="Arial" pitchFamily="34" charset="0"/>
              </a:rPr>
              <a:t>objective of improving </a:t>
            </a:r>
            <a:r>
              <a:rPr kumimoji="0" lang="en-US" sz="3200" b="1" i="1" u="dbl" strike="noStrike" kern="1200" cap="none" spc="0" normalizeH="0" noProof="0" dirty="0">
                <a:ln>
                  <a:noFill/>
                </a:ln>
                <a:solidFill>
                  <a:srgbClr val="0000FF"/>
                </a:solidFill>
                <a:effectLst/>
                <a:uLnTx/>
                <a:uFillTx/>
                <a:latin typeface="Arial" pitchFamily="34" charset="0"/>
                <a:ea typeface="+mn-ea"/>
                <a:cs typeface="Arial" pitchFamily="34" charset="0"/>
              </a:rPr>
              <a:t>future</a:t>
            </a:r>
            <a:r>
              <a:rPr kumimoji="0" lang="en-US" sz="3200" b="1" i="1" u="sng" strike="noStrike" kern="1200" cap="none" spc="0" normalizeH="0" baseline="0" noProof="0" dirty="0">
                <a:ln>
                  <a:noFill/>
                </a:ln>
                <a:solidFill>
                  <a:srgbClr val="0000FF"/>
                </a:solidFill>
                <a:effectLst/>
                <a:uLnTx/>
                <a:uFillTx/>
                <a:latin typeface="Arial" pitchFamily="34" charset="0"/>
                <a:ea typeface="+mn-ea"/>
                <a:cs typeface="Arial" pitchFamily="34" charset="0"/>
              </a:rPr>
              <a:t> performance</a:t>
            </a:r>
            <a:r>
              <a:rPr kumimoji="0" lang="en-US" sz="3200" b="1" i="0" u="sng" strike="noStrike" kern="1200" cap="none" spc="0" normalizeH="0" baseline="0" noProof="0" dirty="0">
                <a:ln>
                  <a:noFill/>
                </a:ln>
                <a:solidFill>
                  <a:srgbClr val="000000"/>
                </a:solidFill>
                <a:effectLst/>
                <a:uLnTx/>
                <a:uFillTx/>
                <a:latin typeface="Arial" pitchFamily="34" charset="0"/>
                <a:ea typeface="+mn-ea"/>
                <a:cs typeface="Arial"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pitchFamily="34" charset="0"/>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Arial" pitchFamily="34" charset="0"/>
              </a:rPr>
              <a:t>AARs are a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pitchFamily="34" charset="0"/>
              <a:cs typeface="Arial"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FF"/>
                </a:solidFill>
                <a:effectLst/>
                <a:uLnTx/>
                <a:uFillTx/>
                <a:latin typeface="Arial" pitchFamily="34" charset="0"/>
                <a:ea typeface="+mn-ea"/>
                <a:cs typeface="Arial" pitchFamily="34" charset="0"/>
              </a:rPr>
              <a:t>professional dialogue that turns </a:t>
            </a:r>
            <a:r>
              <a:rPr kumimoji="0" lang="en-US" sz="1800" b="0" i="1" u="none" strike="noStrike" kern="1200" cap="none" spc="0" normalizeH="0" baseline="0" noProof="0" dirty="0">
                <a:ln>
                  <a:noFill/>
                </a:ln>
                <a:solidFill>
                  <a:srgbClr val="0000FF"/>
                </a:solidFill>
                <a:effectLst>
                  <a:outerShdw blurRad="38100" dist="38100" dir="2700000" algn="tl">
                    <a:srgbClr val="000000">
                      <a:alpha val="43137"/>
                    </a:srgbClr>
                  </a:outerShdw>
                </a:effectLst>
                <a:uLnTx/>
                <a:uFillTx/>
                <a:latin typeface="Arial" pitchFamily="34" charset="0"/>
                <a:ea typeface="+mn-ea"/>
                <a:cs typeface="Arial" pitchFamily="34" charset="0"/>
              </a:rPr>
              <a:t>friction</a:t>
            </a:r>
            <a:r>
              <a:rPr kumimoji="0" lang="en-US" sz="1800" b="0" i="1" u="none" strike="noStrike" kern="1200" cap="none" spc="0" normalizeH="0" baseline="0" noProof="0" dirty="0">
                <a:ln>
                  <a:noFill/>
                </a:ln>
                <a:solidFill>
                  <a:srgbClr val="0000FF"/>
                </a:solidFill>
                <a:effectLst/>
                <a:uLnTx/>
                <a:uFillTx/>
                <a:latin typeface="Arial" pitchFamily="34" charset="0"/>
                <a:ea typeface="+mn-ea"/>
                <a:cs typeface="Arial" pitchFamily="34" charset="0"/>
              </a:rPr>
              <a:t> into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sng" strike="noStrike" kern="1200" cap="none" spc="0" normalizeH="0" baseline="0" noProof="0" dirty="0">
                <a:ln>
                  <a:noFill/>
                </a:ln>
                <a:solidFill>
                  <a:srgbClr val="0000FF"/>
                </a:solidFill>
                <a:effectLst/>
                <a:uLnTx/>
                <a:uFillTx/>
                <a:latin typeface="Arial" pitchFamily="34" charset="0"/>
                <a:ea typeface="+mn-ea"/>
                <a:cs typeface="Arial" pitchFamily="34" charset="0"/>
              </a:rPr>
              <a:t>organizational agility.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pitchFamily="34" charset="0"/>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59746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E016D-060E-D54C-8612-9933080B5F41}"/>
              </a:ext>
            </a:extLst>
          </p:cNvPr>
          <p:cNvSpPr>
            <a:spLocks noGrp="1"/>
          </p:cNvSpPr>
          <p:nvPr>
            <p:ph type="title"/>
          </p:nvPr>
        </p:nvSpPr>
        <p:spPr/>
        <p:txBody>
          <a:bodyPr/>
          <a:lstStyle/>
          <a:p>
            <a:r>
              <a:rPr lang="en-US"/>
              <a:t>Rules of the AAR</a:t>
            </a:r>
          </a:p>
        </p:txBody>
      </p:sp>
      <p:sp>
        <p:nvSpPr>
          <p:cNvPr id="4" name="Content Placeholder 2">
            <a:extLst>
              <a:ext uri="{FF2B5EF4-FFF2-40B4-BE49-F238E27FC236}">
                <a16:creationId xmlns:a16="http://schemas.microsoft.com/office/drawing/2014/main" id="{83A62DEC-8657-B616-6028-5EADF95DA2A9}"/>
              </a:ext>
            </a:extLst>
          </p:cNvPr>
          <p:cNvSpPr txBox="1">
            <a:spLocks/>
          </p:cNvSpPr>
          <p:nvPr/>
        </p:nvSpPr>
        <p:spPr>
          <a:xfrm>
            <a:off x="678097" y="1542024"/>
            <a:ext cx="8160720" cy="3115701"/>
          </a:xfrm>
          <a:prstGeom prst="rect">
            <a:avLst/>
          </a:prstGeom>
        </p:spPr>
        <p:txBody>
          <a:bodyPr vert="horz" lIns="91440" tIns="45720" rIns="9144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solidFill>
                  <a:schemeClr val="tx1"/>
                </a:solidFill>
                <a:latin typeface="Arial"/>
                <a:cs typeface="Arial"/>
              </a:rPr>
              <a:t>This is your AAR, </a:t>
            </a:r>
            <a:r>
              <a:rPr lang="en-US" b="1" u="sng" dirty="0">
                <a:solidFill>
                  <a:schemeClr val="tx1"/>
                </a:solidFill>
                <a:latin typeface="Arial"/>
                <a:cs typeface="Arial"/>
              </a:rPr>
              <a:t>Participation is Key</a:t>
            </a:r>
          </a:p>
          <a:p>
            <a:pPr marL="201168" lvl="1" indent="0">
              <a:buClrTx/>
              <a:buNone/>
            </a:pPr>
            <a:endParaRPr lang="en-US" sz="2000" dirty="0">
              <a:solidFill>
                <a:schemeClr val="tx1"/>
              </a:solidFill>
              <a:latin typeface="Arial"/>
              <a:cs typeface="Arial"/>
            </a:endParaRPr>
          </a:p>
          <a:p>
            <a:pPr lvl="1">
              <a:buClrTx/>
              <a:buFont typeface="Courier New" panose="02070309020205020404" pitchFamily="49" charset="0"/>
              <a:buChar char="o"/>
            </a:pPr>
            <a:r>
              <a:rPr lang="en-US" sz="2000" dirty="0">
                <a:solidFill>
                  <a:schemeClr val="tx1"/>
                </a:solidFill>
                <a:latin typeface="Arial"/>
                <a:cs typeface="Arial"/>
              </a:rPr>
              <a:t> Be respectful</a:t>
            </a:r>
          </a:p>
          <a:p>
            <a:pPr lvl="1">
              <a:buClrTx/>
              <a:buFont typeface="Courier New" panose="02070309020205020404" pitchFamily="49" charset="0"/>
              <a:buChar char="o"/>
            </a:pPr>
            <a:r>
              <a:rPr lang="en-US" sz="2000" dirty="0">
                <a:solidFill>
                  <a:schemeClr val="tx1"/>
                </a:solidFill>
                <a:latin typeface="Arial"/>
                <a:cs typeface="Arial"/>
              </a:rPr>
              <a:t> Everyone has a voice and perspective, the team needs to hear it </a:t>
            </a:r>
          </a:p>
          <a:p>
            <a:pPr lvl="1">
              <a:buClrTx/>
              <a:buFont typeface="Courier New" panose="02070309020205020404" pitchFamily="49" charset="0"/>
              <a:buChar char="o"/>
            </a:pPr>
            <a:r>
              <a:rPr lang="en-US" sz="2000" dirty="0">
                <a:solidFill>
                  <a:schemeClr val="tx1"/>
                </a:solidFill>
                <a:latin typeface="Arial"/>
                <a:cs typeface="Arial"/>
              </a:rPr>
              <a:t> Remain </a:t>
            </a:r>
            <a:r>
              <a:rPr lang="en-US" sz="2000" u="sng" dirty="0">
                <a:solidFill>
                  <a:schemeClr val="tx1"/>
                </a:solidFill>
                <a:latin typeface="Arial"/>
                <a:cs typeface="Arial"/>
              </a:rPr>
              <a:t>Open-minded</a:t>
            </a:r>
          </a:p>
          <a:p>
            <a:pPr lvl="1">
              <a:buClrTx/>
              <a:buFont typeface="Courier New" panose="02070309020205020404" pitchFamily="49" charset="0"/>
              <a:buChar char="o"/>
            </a:pPr>
            <a:r>
              <a:rPr lang="en-US" sz="2000" dirty="0">
                <a:solidFill>
                  <a:schemeClr val="tx1"/>
                </a:solidFill>
                <a:latin typeface="Arial"/>
                <a:cs typeface="Arial"/>
              </a:rPr>
              <a:t> </a:t>
            </a:r>
            <a:r>
              <a:rPr lang="en-US" sz="2000" b="1" u="sng" dirty="0">
                <a:solidFill>
                  <a:schemeClr val="tx1"/>
                </a:solidFill>
                <a:latin typeface="Arial"/>
                <a:cs typeface="Arial"/>
              </a:rPr>
              <a:t>Look for the lesson</a:t>
            </a:r>
          </a:p>
          <a:p>
            <a:pPr lvl="1">
              <a:buClrTx/>
              <a:buFont typeface="Courier New" panose="02070309020205020404" pitchFamily="49" charset="0"/>
              <a:buChar char="o"/>
            </a:pPr>
            <a:r>
              <a:rPr lang="en-US" sz="2000" dirty="0">
                <a:latin typeface="Arial"/>
                <a:cs typeface="Arial"/>
              </a:rPr>
              <a:t> Open, candid, professional discussion</a:t>
            </a:r>
          </a:p>
          <a:p>
            <a:pPr lvl="1">
              <a:buClrTx/>
              <a:buFont typeface="Courier New" panose="02070309020205020404" pitchFamily="49" charset="0"/>
              <a:buChar char="o"/>
            </a:pPr>
            <a:r>
              <a:rPr lang="en-US" sz="2000" dirty="0">
                <a:latin typeface="Arial"/>
                <a:cs typeface="Arial"/>
              </a:rPr>
              <a:t> Only one speaker at a time</a:t>
            </a:r>
          </a:p>
          <a:p>
            <a:pPr marL="201168" lvl="1" indent="0">
              <a:buClrTx/>
              <a:buNone/>
            </a:pPr>
            <a:endParaRPr lang="en-US" sz="2000" dirty="0">
              <a:latin typeface="Arial"/>
              <a:cs typeface="Arial"/>
            </a:endParaRPr>
          </a:p>
          <a:p>
            <a:endParaRPr lang="en-US" dirty="0">
              <a:solidFill>
                <a:schemeClr val="tx1"/>
              </a:solidFill>
            </a:endParaRPr>
          </a:p>
        </p:txBody>
      </p:sp>
      <p:sp>
        <p:nvSpPr>
          <p:cNvPr id="5" name="TextBox 4">
            <a:extLst>
              <a:ext uri="{FF2B5EF4-FFF2-40B4-BE49-F238E27FC236}">
                <a16:creationId xmlns:a16="http://schemas.microsoft.com/office/drawing/2014/main" id="{342A1B65-3BC0-B03E-A177-594F98D86D1E}"/>
              </a:ext>
            </a:extLst>
          </p:cNvPr>
          <p:cNvSpPr txBox="1"/>
          <p:nvPr/>
        </p:nvSpPr>
        <p:spPr>
          <a:xfrm>
            <a:off x="1138237" y="4623478"/>
            <a:ext cx="6867525" cy="1384995"/>
          </a:xfrm>
          <a:prstGeom prst="rect">
            <a:avLst/>
          </a:prstGeom>
          <a:noFill/>
        </p:spPr>
        <p:txBody>
          <a:bodyPr wrap="square">
            <a:spAutoFit/>
          </a:bodyPr>
          <a:lstStyle/>
          <a:p>
            <a:pPr marL="201168" lvl="1" indent="0">
              <a:buClrTx/>
              <a:buNone/>
            </a:pPr>
            <a:r>
              <a:rPr lang="en-US" sz="2800" b="1" dirty="0">
                <a:solidFill>
                  <a:schemeClr val="tx1"/>
                </a:solidFill>
                <a:latin typeface="Arial"/>
                <a:cs typeface="Arial"/>
              </a:rPr>
              <a:t>“The more you sweat [during training] the less you bleed in war.” </a:t>
            </a:r>
          </a:p>
          <a:p>
            <a:pPr marL="201168" lvl="1" indent="0">
              <a:buClrTx/>
              <a:buNone/>
            </a:pPr>
            <a:r>
              <a:rPr lang="en-US" sz="2800" b="1" dirty="0">
                <a:solidFill>
                  <a:schemeClr val="tx1"/>
                </a:solidFill>
                <a:latin typeface="Arial"/>
                <a:cs typeface="Arial"/>
              </a:rPr>
              <a:t>– General Norman Schwarzkopf</a:t>
            </a:r>
          </a:p>
        </p:txBody>
      </p:sp>
    </p:spTree>
    <p:extLst>
      <p:ext uri="{BB962C8B-B14F-4D97-AF65-F5344CB8AC3E}">
        <p14:creationId xmlns:p14="http://schemas.microsoft.com/office/powerpoint/2010/main" val="3058467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6A96143-19AC-18F0-8EB1-E8F226392593}"/>
              </a:ext>
            </a:extLst>
          </p:cNvPr>
          <p:cNvSpPr txBox="1">
            <a:spLocks/>
          </p:cNvSpPr>
          <p:nvPr/>
        </p:nvSpPr>
        <p:spPr>
          <a:xfrm>
            <a:off x="261253" y="1023069"/>
            <a:ext cx="4279349" cy="2276856"/>
          </a:xfrm>
          <a:prstGeom prst="rect">
            <a:avLst/>
          </a:prstGeom>
          <a:ln>
            <a:noFill/>
          </a:ln>
        </p:spPr>
        <p:txBody>
          <a:bodyPr vert="horz" lIns="68580" tIns="34290" rIns="68580" bIns="3429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0000"/>
              </a:lnSpc>
              <a:spcBef>
                <a:spcPts val="0"/>
              </a:spcBef>
              <a:spcAft>
                <a:spcPts val="450"/>
              </a:spcAft>
              <a:buClrTx/>
              <a:buNone/>
              <a:defRPr/>
            </a:pPr>
            <a:r>
              <a:rPr lang="en-US" sz="1400" b="1" u="sng" dirty="0">
                <a:solidFill>
                  <a:prstClr val="black"/>
                </a:solidFill>
              </a:rPr>
              <a:t>Mission:</a:t>
            </a:r>
            <a:endParaRPr lang="en-US" sz="1400" dirty="0">
              <a:solidFill>
                <a:prstClr val="black"/>
              </a:solidFill>
            </a:endParaRPr>
          </a:p>
          <a:p>
            <a:pPr marL="37465" marR="13335">
              <a:spcBef>
                <a:spcPts val="259"/>
              </a:spcBef>
              <a:tabLst>
                <a:tab pos="2931722" algn="l"/>
              </a:tabLst>
              <a:defRPr/>
            </a:pPr>
            <a:r>
              <a:rPr lang="en-US" sz="1400" dirty="0">
                <a:ea typeface="Tahoma"/>
              </a:rPr>
              <a:t>{{MISSION}}</a:t>
            </a:r>
            <a:endParaRPr lang="en-US" sz="1400" dirty="0"/>
          </a:p>
        </p:txBody>
      </p:sp>
      <p:sp>
        <p:nvSpPr>
          <p:cNvPr id="5" name="Content Placeholder 2">
            <a:extLst>
              <a:ext uri="{FF2B5EF4-FFF2-40B4-BE49-F238E27FC236}">
                <a16:creationId xmlns:a16="http://schemas.microsoft.com/office/drawing/2014/main" id="{B0A87914-24DE-7CD4-9A21-BC61CFCA82AA}"/>
              </a:ext>
            </a:extLst>
          </p:cNvPr>
          <p:cNvSpPr txBox="1">
            <a:spLocks noChangeAspect="1"/>
          </p:cNvSpPr>
          <p:nvPr/>
        </p:nvSpPr>
        <p:spPr>
          <a:xfrm>
            <a:off x="261252" y="2823722"/>
            <a:ext cx="8382836" cy="2262113"/>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0000"/>
              </a:lnSpc>
              <a:spcBef>
                <a:spcPts val="0"/>
              </a:spcBef>
              <a:spcAft>
                <a:spcPts val="450"/>
              </a:spcAft>
              <a:buClrTx/>
              <a:buNone/>
              <a:defRPr/>
            </a:pPr>
            <a:r>
              <a:rPr lang="en-US" sz="1200" b="1" u="sng" dirty="0">
                <a:solidFill>
                  <a:prstClr val="black"/>
                </a:solidFill>
              </a:rPr>
              <a:t>Commander’s Training Objectives:</a:t>
            </a:r>
            <a:endParaRPr lang="en-US" sz="1200" dirty="0">
              <a:solidFill>
                <a:prstClr val="black"/>
              </a:solidFill>
            </a:endParaRPr>
          </a:p>
          <a:p>
            <a:pPr>
              <a:spcAft>
                <a:spcPts val="1200"/>
              </a:spcAft>
              <a:defRPr/>
            </a:pPr>
            <a:r>
              <a:rPr lang="en-US" sz="1200" dirty="0">
                <a:ea typeface="ＭＳ Ｐゴシック"/>
              </a:rPr>
              <a:t>{{SEQ:cto:item}}{{.text}}</a:t>
            </a:r>
          </a:p>
        </p:txBody>
      </p:sp>
      <p:sp>
        <p:nvSpPr>
          <p:cNvPr id="6" name="Content Placeholder 2">
            <a:extLst>
              <a:ext uri="{FF2B5EF4-FFF2-40B4-BE49-F238E27FC236}">
                <a16:creationId xmlns:a16="http://schemas.microsoft.com/office/drawing/2014/main" id="{DF52DB32-E173-526A-6582-2361501AE1C9}"/>
              </a:ext>
            </a:extLst>
          </p:cNvPr>
          <p:cNvSpPr txBox="1">
            <a:spLocks noChangeAspect="1"/>
          </p:cNvSpPr>
          <p:nvPr/>
        </p:nvSpPr>
        <p:spPr>
          <a:xfrm>
            <a:off x="4491615" y="1023069"/>
            <a:ext cx="4756289" cy="1880153"/>
          </a:xfrm>
          <a:prstGeom prst="rect">
            <a:avLst/>
          </a:prstGeom>
          <a:ln>
            <a:noFill/>
          </a:ln>
        </p:spPr>
        <p:txBody>
          <a:bodyPr vert="horz" lIns="68580" tIns="34290" rIns="68580" bIns="3429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0000"/>
              </a:lnSpc>
              <a:spcBef>
                <a:spcPts val="0"/>
              </a:spcBef>
              <a:spcAft>
                <a:spcPts val="450"/>
              </a:spcAft>
              <a:buClrTx/>
              <a:buNone/>
              <a:defRPr/>
            </a:pPr>
            <a:r>
              <a:rPr lang="en-US" sz="1200" b="1" u="sng" dirty="0">
                <a:solidFill>
                  <a:prstClr val="black"/>
                </a:solidFill>
              </a:rPr>
              <a:t>Mission Essential Tasks:</a:t>
            </a:r>
          </a:p>
          <a:p>
            <a:pPr defTabSz="685800">
              <a:lnSpc>
                <a:spcPct val="100000"/>
              </a:lnSpc>
              <a:spcBef>
                <a:spcPts val="0"/>
              </a:spcBef>
              <a:spcAft>
                <a:spcPts val="450"/>
              </a:spcAft>
              <a:defRPr/>
            </a:pPr>
            <a:r>
              <a:rPr lang="en-US" sz="1200" dirty="0" b="1"/>
              <a:t>{{SEQ:met:item}}{{.code}}: </a:t>
            </a:r>
            <a:r>
              <a:rPr lang="en-US" sz="1200" dirty="0"/>
              <a:t>{{.title}}</a:t>
            </a:r>
          </a:p>
        </p:txBody>
      </p:sp>
      <p:cxnSp>
        <p:nvCxnSpPr>
          <p:cNvPr id="7" name="Straight Connector 6">
            <a:extLst>
              <a:ext uri="{FF2B5EF4-FFF2-40B4-BE49-F238E27FC236}">
                <a16:creationId xmlns:a16="http://schemas.microsoft.com/office/drawing/2014/main" id="{C41EDC3F-F68D-7510-7B72-9140FF36DCE3}"/>
              </a:ext>
            </a:extLst>
          </p:cNvPr>
          <p:cNvCxnSpPr>
            <a:cxnSpLocks/>
          </p:cNvCxnSpPr>
          <p:nvPr/>
        </p:nvCxnSpPr>
        <p:spPr>
          <a:xfrm flipV="1">
            <a:off x="345410" y="2651530"/>
            <a:ext cx="8613950" cy="1469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760FB34-0B28-AAA5-B77B-F11E17A42E41}"/>
              </a:ext>
            </a:extLst>
          </p:cNvPr>
          <p:cNvCxnSpPr>
            <a:cxnSpLocks/>
          </p:cNvCxnSpPr>
          <p:nvPr/>
        </p:nvCxnSpPr>
        <p:spPr>
          <a:xfrm>
            <a:off x="4491616" y="1083360"/>
            <a:ext cx="0" cy="156817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89E3590F-5DB6-BF5D-422E-C56F1B6CC5C8}"/>
              </a:ext>
            </a:extLst>
          </p:cNvPr>
          <p:cNvSpPr txBox="1">
            <a:spLocks/>
          </p:cNvSpPr>
          <p:nvPr/>
        </p:nvSpPr>
        <p:spPr>
          <a:xfrm>
            <a:off x="1062616" y="261732"/>
            <a:ext cx="6858000" cy="534215"/>
          </a:xfrm>
          <a:prstGeom prst="rect">
            <a:avLst/>
          </a:prstGeom>
        </p:spPr>
        <p:txBody>
          <a:bodyPr vert="horz" lIns="68580" tIns="34290" rIns="68580" bIns="34290" rtlCol="0" anchor="ctr">
            <a:no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783">
              <a:spcAft>
                <a:spcPts val="0"/>
              </a:spcAft>
              <a:buClrTx/>
            </a:pPr>
            <a:r>
              <a:rPr lang="en-US" sz="3200" b="1">
                <a:solidFill>
                  <a:prstClr val="black"/>
                </a:solidFill>
                <a:latin typeface=" Arial"/>
              </a:rPr>
              <a:t>Mission, METs, &amp; CTOs</a:t>
            </a:r>
          </a:p>
        </p:txBody>
      </p:sp>
    </p:spTree>
    <p:extLst>
      <p:ext uri="{BB962C8B-B14F-4D97-AF65-F5344CB8AC3E}">
        <p14:creationId xmlns:p14="http://schemas.microsoft.com/office/powerpoint/2010/main" val="1457018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95C6A-B293-A0A6-8F8C-88D56FD247E7}"/>
              </a:ext>
            </a:extLst>
          </p:cNvPr>
          <p:cNvSpPr>
            <a:spLocks noGrp="1"/>
          </p:cNvSpPr>
          <p:nvPr>
            <p:ph type="title"/>
          </p:nvPr>
        </p:nvSpPr>
        <p:spPr/>
        <p:txBody>
          <a:bodyPr/>
          <a:lstStyle/>
          <a:p>
            <a:r>
              <a:rPr lang="en-US"/>
              <a:t>MAAR Deliverables</a:t>
            </a:r>
          </a:p>
        </p:txBody>
      </p:sp>
      <p:sp>
        <p:nvSpPr>
          <p:cNvPr id="8" name="Content Placeholder 7">
            <a:extLst>
              <a:ext uri="{FF2B5EF4-FFF2-40B4-BE49-F238E27FC236}">
                <a16:creationId xmlns:a16="http://schemas.microsoft.com/office/drawing/2014/main" id="{A61EA2C2-3B15-C743-EDB4-42885969ED19}"/>
              </a:ext>
            </a:extLst>
          </p:cNvPr>
          <p:cNvSpPr>
            <a:spLocks noGrp="1"/>
          </p:cNvSpPr>
          <p:nvPr>
            <p:ph idx="1"/>
          </p:nvPr>
        </p:nvSpPr>
        <p:spPr>
          <a:xfrm>
            <a:off x="678097" y="1511237"/>
            <a:ext cx="7886700" cy="4969449"/>
          </a:xfrm>
        </p:spPr>
        <p:txBody>
          <a:bodyPr>
            <a:normAutofit/>
          </a:bodyPr>
          <a:lstStyle/>
          <a:p>
            <a:pPr>
              <a:buFont typeface="Wingdings" panose="05000000000000000000" pitchFamily="2" charset="2"/>
              <a:buChar char="q"/>
            </a:pPr>
            <a:r>
              <a:rPr lang="en-US" sz="2000" dirty="0" b="1"/>
              <a:t>{{SEQ:maar:item}}{{.label}}</a:t>
            </a:r>
            <a:r>
              <a:rPr lang="en-US" sz="2000" dirty="0"/>
              <a:t>{{.text}}</a:t>
            </a:r>
            <a:endParaRPr lang="en-US" sz="2000" b="1" dirty="0"/>
          </a:p>
        </p:txBody>
      </p:sp>
    </p:spTree>
    <p:extLst>
      <p:ext uri="{BB962C8B-B14F-4D97-AF65-F5344CB8AC3E}">
        <p14:creationId xmlns:p14="http://schemas.microsoft.com/office/powerpoint/2010/main" val="3711487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98353-690C-F3F4-06FE-B11B85C67455}"/>
              </a:ext>
            </a:extLst>
          </p:cNvPr>
          <p:cNvSpPr>
            <a:spLocks noGrp="1"/>
          </p:cNvSpPr>
          <p:nvPr>
            <p:ph type="title"/>
          </p:nvPr>
        </p:nvSpPr>
        <p:spPr/>
        <p:txBody>
          <a:bodyPr/>
          <a:lstStyle/>
          <a:p>
            <a:r>
              <a:rPr lang="en-US"/>
              <a:t>FAAR Deliverables</a:t>
            </a:r>
          </a:p>
        </p:txBody>
      </p:sp>
      <p:sp>
        <p:nvSpPr>
          <p:cNvPr id="4" name="Content Placeholder 7">
            <a:extLst>
              <a:ext uri="{FF2B5EF4-FFF2-40B4-BE49-F238E27FC236}">
                <a16:creationId xmlns:a16="http://schemas.microsoft.com/office/drawing/2014/main" id="{10013AE6-6BB9-A003-C6C8-0572B874D7A6}"/>
              </a:ext>
            </a:extLst>
          </p:cNvPr>
          <p:cNvSpPr txBox="1">
            <a:spLocks/>
          </p:cNvSpPr>
          <p:nvPr/>
        </p:nvSpPr>
        <p:spPr>
          <a:xfrm>
            <a:off x="498988" y="1223321"/>
            <a:ext cx="7886700" cy="323897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MAAR Deliverables:</a:t>
            </a:r>
          </a:p>
          <a:p>
            <a:pPr>
              <a:buFont typeface="Wingdings" panose="05000000000000000000" pitchFamily="2" charset="2"/>
              <a:buChar char="q"/>
            </a:pPr>
            <a:r>
              <a:rPr lang="en-US" sz="2000" dirty="0" b="1"/>
              <a:t>{{SEQ:maar:item}}{{.label}}</a:t>
            </a:r>
            <a:r>
              <a:rPr lang="en-US" sz="2000" dirty="0"/>
              <a:t>{{.text}}</a:t>
            </a:r>
            <a:endParaRPr lang="en-US" sz="2000" b="1" dirty="0"/>
          </a:p>
        </p:txBody>
      </p:sp>
      <p:sp>
        <p:nvSpPr>
          <p:cNvPr id="5" name="Arrow: Left 4">
            <a:extLst>
              <a:ext uri="{FF2B5EF4-FFF2-40B4-BE49-F238E27FC236}">
                <a16:creationId xmlns:a16="http://schemas.microsoft.com/office/drawing/2014/main" id="{B8593D68-6521-613A-B7D6-8BBBB1F6D9C7}"/>
              </a:ext>
            </a:extLst>
          </p:cNvPr>
          <p:cNvSpPr/>
          <p:nvPr/>
        </p:nvSpPr>
        <p:spPr>
          <a:xfrm rot="16200000">
            <a:off x="4138407" y="4433599"/>
            <a:ext cx="607863" cy="867082"/>
          </a:xfrm>
          <a:prstGeom prst="lef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7">
            <a:extLst>
              <a:ext uri="{FF2B5EF4-FFF2-40B4-BE49-F238E27FC236}">
                <a16:creationId xmlns:a16="http://schemas.microsoft.com/office/drawing/2014/main" id="{8BE9D179-0D1B-5000-CEC2-200D6EABD55B}"/>
              </a:ext>
            </a:extLst>
          </p:cNvPr>
          <p:cNvSpPr txBox="1">
            <a:spLocks/>
          </p:cNvSpPr>
          <p:nvPr/>
        </p:nvSpPr>
        <p:spPr>
          <a:xfrm>
            <a:off x="2548399" y="5271988"/>
            <a:ext cx="3787878" cy="1211106"/>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t>FAAR </a:t>
            </a:r>
            <a:r>
              <a:rPr lang="en-US" sz="2400" b="1" dirty="0"/>
              <a:t>Deliverables:</a:t>
            </a:r>
          </a:p>
          <a:p>
            <a:pPr algn="ctr">
              <a:buFont typeface="Wingdings" panose="05000000000000000000" pitchFamily="2" charset="2"/>
              <a:buChar char="q"/>
            </a:pPr>
            <a:r>
              <a:rPr lang="en-US" sz="2000" dirty="0" b="1"/>
              <a:t>{{SEQ:faar:item}}{{.text}}</a:t>
            </a:r>
          </a:p>
        </p:txBody>
      </p:sp>
    </p:spTree>
    <p:extLst>
      <p:ext uri="{BB962C8B-B14F-4D97-AF65-F5344CB8AC3E}">
        <p14:creationId xmlns:p14="http://schemas.microsoft.com/office/powerpoint/2010/main" val="189239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C5CF-6E43-43DC-D675-749C98B2C117}"/>
              </a:ext>
            </a:extLst>
          </p:cNvPr>
          <p:cNvSpPr>
            <a:spLocks noGrp="1"/>
          </p:cNvSpPr>
          <p:nvPr>
            <p:ph type="title"/>
          </p:nvPr>
        </p:nvSpPr>
        <p:spPr/>
        <p:txBody>
          <a:bodyPr/>
          <a:lstStyle/>
          <a:p>
            <a:r>
              <a:rPr lang="en-US"/>
              <a:t>Heroes of the Battle</a:t>
            </a:r>
          </a:p>
        </p:txBody>
      </p:sp>
    </p:spTree>
    <p:extLst>
      <p:ext uri="{BB962C8B-B14F-4D97-AF65-F5344CB8AC3E}">
        <p14:creationId xmlns:p14="http://schemas.microsoft.com/office/powerpoint/2010/main" val="325352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24A5-1132-3C46-EE42-FD6810FAFCD8}"/>
              </a:ext>
            </a:extLst>
          </p:cNvPr>
          <p:cNvSpPr>
            <a:spLocks noGrp="1"/>
          </p:cNvSpPr>
          <p:nvPr>
            <p:ph type="title"/>
          </p:nvPr>
        </p:nvSpPr>
        <p:spPr/>
        <p:txBody>
          <a:bodyPr/>
          <a:lstStyle/>
          <a:p>
            <a:r>
              <a:rPr lang="en-US"/>
              <a:t>References</a:t>
            </a:r>
          </a:p>
        </p:txBody>
      </p:sp>
      <p:sp>
        <p:nvSpPr>
          <p:cNvPr id="4" name="Content Placeholder 2">
            <a:extLst>
              <a:ext uri="{FF2B5EF4-FFF2-40B4-BE49-F238E27FC236}">
                <a16:creationId xmlns:a16="http://schemas.microsoft.com/office/drawing/2014/main" id="{27022626-4332-102A-6B01-75C5D5F8960C}"/>
              </a:ext>
            </a:extLst>
          </p:cNvPr>
          <p:cNvSpPr txBox="1">
            <a:spLocks noGrp="1"/>
          </p:cNvSpPr>
          <p:nvPr>
            <p:ph idx="1"/>
          </p:nvPr>
        </p:nvSpPr>
        <p:spPr>
          <a:xfrm>
            <a:off x="833284" y="1253330"/>
            <a:ext cx="4918587" cy="4901663"/>
          </a:xfrm>
          <a:prstGeom prst="rect">
            <a:avLst/>
          </a:prstGeom>
        </p:spPr>
        <p:txBody>
          <a:bodyPr vert="horz" lIns="91440" tIns="45720" rIns="91440" bIns="45720" rtlCol="0" anchor="t">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ClrTx/>
              <a:buFont typeface="Wingdings" panose="05000000000000000000" pitchFamily="2" charset="2"/>
              <a:buChar char="§"/>
            </a:pPr>
            <a:r>
              <a:rPr lang="en-US" sz="2400">
                <a:latin typeface="Arial"/>
                <a:cs typeface="Arial"/>
              </a:rPr>
              <a:t>{{SEQ:ref:item}}{{.text}}</a:t>
            </a:r>
          </a:p>
        </p:txBody>
      </p:sp>
    </p:spTree>
    <p:extLst>
      <p:ext uri="{BB962C8B-B14F-4D97-AF65-F5344CB8AC3E}">
        <p14:creationId xmlns:p14="http://schemas.microsoft.com/office/powerpoint/2010/main" val="1074440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1549B-0EAC-1509-4C19-4A179BFE23BA}"/>
              </a:ext>
            </a:extLst>
          </p:cNvPr>
          <p:cNvSpPr>
            <a:spLocks noGrp="1"/>
          </p:cNvSpPr>
          <p:nvPr>
            <p:ph type="title"/>
          </p:nvPr>
        </p:nvSpPr>
        <p:spPr/>
        <p:txBody>
          <a:bodyPr/>
          <a:lstStyle/>
          <a:p>
            <a:r>
              <a:rPr lang="en-US"/>
              <a:t>Closing Remarks</a:t>
            </a:r>
          </a:p>
        </p:txBody>
      </p:sp>
    </p:spTree>
    <p:extLst>
      <p:ext uri="{BB962C8B-B14F-4D97-AF65-F5344CB8AC3E}">
        <p14:creationId xmlns:p14="http://schemas.microsoft.com/office/powerpoint/2010/main" val="231717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D29B7-0EE6-AC9C-3492-8862E1407160}"/>
              </a:ext>
            </a:extLst>
          </p:cNvPr>
          <p:cNvSpPr>
            <a:spLocks noGrp="1"/>
          </p:cNvSpPr>
          <p:nvPr>
            <p:ph type="title"/>
          </p:nvPr>
        </p:nvSpPr>
        <p:spPr/>
        <p:txBody>
          <a:bodyPr>
            <a:noAutofit/>
          </a:bodyPr>
          <a:lstStyle/>
          <a:p>
            <a:r>
              <a:rPr lang="en-US" sz="3200" b="1"/>
              <a:t>How do we conduct MA in 77</a:t>
            </a:r>
            <a:r>
              <a:rPr lang="en-US" sz="3200" b="1" baseline="30000"/>
              <a:t>th</a:t>
            </a:r>
            <a:r>
              <a:rPr lang="en-US" sz="3200" b="1"/>
              <a:t> CSSB?</a:t>
            </a:r>
            <a:br>
              <a:rPr lang="en-US" sz="2800"/>
            </a:br>
            <a:r>
              <a:rPr lang="en-US" sz="2800"/>
              <a:t>MDMP</a:t>
            </a:r>
          </a:p>
        </p:txBody>
      </p:sp>
      <p:sp>
        <p:nvSpPr>
          <p:cNvPr id="3" name="Content Placeholder 2">
            <a:extLst>
              <a:ext uri="{FF2B5EF4-FFF2-40B4-BE49-F238E27FC236}">
                <a16:creationId xmlns:a16="http://schemas.microsoft.com/office/drawing/2014/main" id="{240D540E-AA24-7288-6FC8-6085BA5F3DA5}"/>
              </a:ext>
            </a:extLst>
          </p:cNvPr>
          <p:cNvSpPr>
            <a:spLocks noGrp="1"/>
          </p:cNvSpPr>
          <p:nvPr>
            <p:ph idx="1"/>
          </p:nvPr>
        </p:nvSpPr>
        <p:spPr>
          <a:xfrm>
            <a:off x="628650" y="1253331"/>
            <a:ext cx="8131892" cy="4970488"/>
          </a:xfrm>
        </p:spPr>
        <p:txBody>
          <a:bodyPr>
            <a:normAutofit lnSpcReduction="10000"/>
          </a:bodyPr>
          <a:lstStyle/>
          <a:p>
            <a:pPr marL="0" indent="0">
              <a:buNone/>
            </a:pPr>
            <a:r>
              <a:rPr lang="en-US" sz="1800"/>
              <a:t>Definition:</a:t>
            </a:r>
          </a:p>
          <a:p>
            <a:pPr marL="0" indent="0">
              <a:buNone/>
            </a:pPr>
            <a:r>
              <a:rPr lang="en-US" sz="1800"/>
              <a:t>The Military Decision Making Process is an iterative planning methodology that integrates the activities of the commander, staff, subordinate headquarters, and other partners to understand the situation and mission, develop and compare courses of action, decide on a course of action that best accomplishes the mission, and produce an operation plan or order for execution. </a:t>
            </a:r>
          </a:p>
          <a:p>
            <a:pPr marL="0" indent="0">
              <a:buNone/>
            </a:pPr>
            <a:r>
              <a:rPr lang="en-US" sz="1800"/>
              <a:t>The purpose of MDMP: a proven analytical process for solving problems and making decisions.</a:t>
            </a:r>
          </a:p>
          <a:p>
            <a:pPr marL="0" indent="0">
              <a:buNone/>
            </a:pPr>
            <a:endParaRPr lang="en-US" sz="1800"/>
          </a:p>
          <a:p>
            <a:pPr marL="0" indent="0">
              <a:buNone/>
            </a:pPr>
            <a:r>
              <a:rPr lang="en-US" sz="1800"/>
              <a:t>• Step 1 - Receipt of mission.</a:t>
            </a:r>
          </a:p>
          <a:p>
            <a:pPr marL="0" indent="0">
              <a:buNone/>
            </a:pPr>
            <a:r>
              <a:rPr lang="en-US" sz="1800"/>
              <a:t>• Step 2 - Mission analysis.</a:t>
            </a:r>
          </a:p>
          <a:p>
            <a:pPr marL="0" indent="0">
              <a:buNone/>
            </a:pPr>
            <a:r>
              <a:rPr lang="en-US" sz="1800"/>
              <a:t>• Step 3 - COA development.</a:t>
            </a:r>
          </a:p>
          <a:p>
            <a:pPr marL="0" indent="0">
              <a:buNone/>
            </a:pPr>
            <a:r>
              <a:rPr lang="en-US" sz="1800"/>
              <a:t>• Step 4 - COA analysis.</a:t>
            </a:r>
          </a:p>
          <a:p>
            <a:pPr marL="0" indent="0">
              <a:buNone/>
            </a:pPr>
            <a:r>
              <a:rPr lang="en-US" sz="1800"/>
              <a:t>• Step 5 - COA comparison.</a:t>
            </a:r>
          </a:p>
          <a:p>
            <a:pPr marL="0" indent="0">
              <a:buNone/>
            </a:pPr>
            <a:r>
              <a:rPr lang="en-US" sz="1800"/>
              <a:t>• Step 6 - COA approval.</a:t>
            </a:r>
          </a:p>
          <a:p>
            <a:pPr marL="0" indent="0">
              <a:buNone/>
            </a:pPr>
            <a:r>
              <a:rPr lang="en-US" sz="1800"/>
              <a:t>• Step 7 - Orders production, dissemination, and transition.</a:t>
            </a:r>
          </a:p>
        </p:txBody>
      </p:sp>
    </p:spTree>
    <p:extLst>
      <p:ext uri="{BB962C8B-B14F-4D97-AF65-F5344CB8AC3E}">
        <p14:creationId xmlns:p14="http://schemas.microsoft.com/office/powerpoint/2010/main" val="1052344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E8B05-8A54-3811-191D-5F9205EB1A70}"/>
              </a:ext>
            </a:extLst>
          </p:cNvPr>
          <p:cNvSpPr>
            <a:spLocks noGrp="1"/>
          </p:cNvSpPr>
          <p:nvPr>
            <p:ph type="title"/>
          </p:nvPr>
        </p:nvSpPr>
        <p:spPr/>
        <p:txBody>
          <a:bodyPr>
            <a:normAutofit fontScale="90000"/>
          </a:bodyPr>
          <a:lstStyle/>
          <a:p>
            <a:r>
              <a:rPr lang="en-US"/>
              <a:t>Sustainment Shared Understanding</a:t>
            </a:r>
          </a:p>
        </p:txBody>
      </p:sp>
      <p:pic>
        <p:nvPicPr>
          <p:cNvPr id="5" name="Picture 4">
            <a:extLst>
              <a:ext uri="{FF2B5EF4-FFF2-40B4-BE49-F238E27FC236}">
                <a16:creationId xmlns:a16="http://schemas.microsoft.com/office/drawing/2014/main" id="{451D8584-0DBD-6740-475A-EBDE12559527}"/>
              </a:ext>
            </a:extLst>
          </p:cNvPr>
          <p:cNvPicPr>
            <a:picLocks noChangeAspect="1"/>
          </p:cNvPicPr>
          <p:nvPr/>
        </p:nvPicPr>
        <p:blipFill>
          <a:blip r:embed="rId2"/>
          <a:stretch>
            <a:fillRect/>
          </a:stretch>
        </p:blipFill>
        <p:spPr>
          <a:xfrm>
            <a:off x="0" y="1288671"/>
            <a:ext cx="9144000" cy="4280658"/>
          </a:xfrm>
          <a:prstGeom prst="rect">
            <a:avLst/>
          </a:prstGeom>
        </p:spPr>
      </p:pic>
    </p:spTree>
    <p:extLst>
      <p:ext uri="{BB962C8B-B14F-4D97-AF65-F5344CB8AC3E}">
        <p14:creationId xmlns:p14="http://schemas.microsoft.com/office/powerpoint/2010/main" val="3581683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84A2E10D-5516-F9F9-B4E3-2B92ABC1FB58}"/>
              </a:ext>
            </a:extLst>
          </p:cNvPr>
          <p:cNvSpPr txBox="1">
            <a:spLocks/>
          </p:cNvSpPr>
          <p:nvPr/>
        </p:nvSpPr>
        <p:spPr>
          <a:xfrm>
            <a:off x="1285874" y="6015220"/>
            <a:ext cx="6572250" cy="314618"/>
          </a:xfrm>
          <a:prstGeom prst="rect">
            <a:avLst/>
          </a:prstGeom>
          <a:solidFill>
            <a:srgbClr val="FFFF00"/>
          </a:solidFill>
          <a:ln>
            <a:noFill/>
          </a:ln>
          <a:effectLst/>
        </p:spPr>
        <p:txBody>
          <a:bodyPr vert="horz" lIns="91440" tIns="45720" rIns="91440" bIns="45720" rtlCol="0" anchor="t">
            <a:normAutofit lnSpcReduction="10000"/>
          </a:bodyPr>
          <a:lstStyle>
            <a:defPPr>
              <a:defRPr lang="en-US"/>
            </a:defPPr>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1" i="0" u="none" strike="noStrike" kern="1200" cap="none" spc="0" normalizeH="0" baseline="0" noProof="0">
                <a:ln>
                  <a:noFill/>
                </a:ln>
                <a:solidFill>
                  <a:srgbClr val="000000"/>
                </a:solidFill>
                <a:effectLst/>
                <a:uLnTx/>
                <a:uFillTx/>
                <a:latin typeface="Arial"/>
                <a:ea typeface="+mn-ea"/>
                <a:cs typeface="Arial"/>
              </a:rPr>
              <a:t>How far did the team progress through the model?</a:t>
            </a:r>
          </a:p>
        </p:txBody>
      </p:sp>
      <p:pic>
        <p:nvPicPr>
          <p:cNvPr id="5" name="Picture 2" descr="True Team Development - Applied Leadership Teams">
            <a:extLst>
              <a:ext uri="{FF2B5EF4-FFF2-40B4-BE49-F238E27FC236}">
                <a16:creationId xmlns:a16="http://schemas.microsoft.com/office/drawing/2014/main" id="{0319B1C5-E11E-E2EC-CAA2-3DED2783AB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116"/>
          <a:stretch>
            <a:fillRect/>
          </a:stretch>
        </p:blipFill>
        <p:spPr bwMode="auto">
          <a:xfrm>
            <a:off x="267603" y="1097905"/>
            <a:ext cx="8608791" cy="49146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FDBAD1A-B13C-24B2-E421-9EFBB30CFAEC}"/>
              </a:ext>
            </a:extLst>
          </p:cNvPr>
          <p:cNvSpPr txBox="1"/>
          <p:nvPr/>
        </p:nvSpPr>
        <p:spPr>
          <a:xfrm>
            <a:off x="0" y="158200"/>
            <a:ext cx="919369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sng" strike="noStrike" kern="1200" cap="none" spc="0" normalizeH="0" baseline="0" noProof="0">
                <a:ln>
                  <a:noFill/>
                </a:ln>
                <a:solidFill>
                  <a:srgbClr val="000000"/>
                </a:solidFill>
                <a:effectLst/>
                <a:uLnTx/>
                <a:uFillTx/>
                <a:latin typeface=" Arial"/>
                <a:ea typeface="+mn-ea"/>
                <a:cs typeface="+mn-cs"/>
              </a:rPr>
              <a:t>How did we do?</a:t>
            </a:r>
          </a:p>
        </p:txBody>
      </p:sp>
    </p:spTree>
    <p:extLst>
      <p:ext uri="{BB962C8B-B14F-4D97-AF65-F5344CB8AC3E}">
        <p14:creationId xmlns:p14="http://schemas.microsoft.com/office/powerpoint/2010/main" val="3907568985"/>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t>{{PAGE_TITLE}}</a:t>
            </a:r>
          </a:p>
        </p:txBody>
      </p:sp>
      <p:sp>
        <p:nvSpPr>
          <p:cNvPr id="3" name="Discussion Body"/>
          <p:cNvSpPr txBox="1"/>
          <p:nvPr/>
        </p:nvSpPr>
        <p:spPr>
          <a:xfrm>
            <a:off x="457200" y="1150000"/>
            <a:ext cx="8229600" cy="5150000"/>
          </a:xfrm>
          <a:prstGeom prst="rect">
            <a:avLst/>
          </a:prstGeom>
          <a:noFill/>
        </p:spPr>
        <p:txBody>
          <a:bodyPr wrap="square" lIns="91440" tIns="45720" rIns="91440" bIns="45720" rtlCol="0">
            <a:normAutofit/>
          </a:bodyPr>
          <a:lstStyle/>
          <a:p>
            <a:pPr marL="0" indent="0" algn="ctr">
              <a:spcAft>
                <a:spcPts val="300"/>
              </a:spcAft>
              <a:buNone/>
            </a:pPr>
            <a:r>
              <a:rPr lang="en-US" sz="2000" b="1">
                <a:solidFill>
                  <a:schemeClr val="tx1"/>
                </a:solidFill>
                <a:latin typeface="Arial"/>
                <a:cs typeface="Arial"/>
              </a:rPr>
              <a:t>{{SEQ:disc:teo}}{{.text}}</a:t>
            </a:r>
          </a:p>
          <a:p>
            <a:pPr marL="0" indent="0">
              <a:spcBef>
                <a:spcPts val="900"/>
              </a:spcBef>
              <a:buNone/>
            </a:pPr>
            <a:r>
              <a:rPr lang="en-US" sz="1800" b="1" u="sng">
                <a:solidFill>
                  <a:schemeClr val="tx1"/>
                </a:solidFill>
                <a:latin typeface="Arial"/>
                <a:cs typeface="Arial"/>
              </a:rPr>
              <a:t>{{SEQ:disc:head}}{{.text}}</a:t>
            </a:r>
          </a:p>
          <a:p>
            <a:pPr marL="285750" indent="-285750">
              <a:spcBef>
                <a:spcPts val="600"/>
              </a:spcBef>
              <a:buFont typeface="Arial"/>
              <a:buChar char="•"/>
            </a:pPr>
            <a:r>
              <a:rPr lang="en-US" sz="1400">
                <a:solidFill>
                  <a:schemeClr val="tx1"/>
                </a:solidFill>
                <a:latin typeface="Arial"/>
                <a:cs typeface="Arial"/>
              </a:rPr>
              <a:t>{{SEQ:disc:para}}{{.text}}</a:t>
            </a:r>
          </a:p>
          <a:p>
            <a:pPr marL="685800" indent="-228600">
              <a:spcBef>
                <a:spcPts val="300"/>
              </a:spcBef>
              <a:buFont typeface="Wingdings" pitchFamily="2" charset="2"/>
              <a:buChar char="Ø"/>
            </a:pPr>
            <a:r>
              <a:rPr lang="en-US" sz="1200" b="1">
                <a:solidFill>
                  <a:schemeClr val="tx1"/>
                </a:solidFill>
                <a:latin typeface="Arial"/>
                <a:cs typeface="Arial"/>
              </a:rPr>
              <a:t>{{SEQ:disc:rec}}Recommendation: </a:t>
            </a:r>
            <a:r>
              <a:rPr lang="en-US" sz="1200">
                <a:solidFill>
                  <a:schemeClr val="tx1"/>
                </a:solidFill>
                <a:latin typeface="Arial"/>
                <a:cs typeface="Arial"/>
              </a:rPr>
              <a:t>{{.text}}</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Author0 xmlns="0883416c-ef56-4f1e-8cd7-468248f02786">
      <UserInfo>
        <DisplayName/>
        <AccountId xsi:nil="true"/>
        <AccountType/>
      </UserInfo>
    </Author0>
    <_ip_UnifiedCompliancePolicyProperties xmlns="http://schemas.microsoft.com/sharepoint/v3" xsi:nil="true"/>
    <lcf76f155ced4ddcb4097134ff3c332f xmlns="0883416c-ef56-4f1e-8cd7-468248f02786">
      <Terms xmlns="http://schemas.microsoft.com/office/infopath/2007/PartnerControls"/>
    </lcf76f155ced4ddcb4097134ff3c332f>
    <Headquarters xmlns="0883416c-ef56-4f1e-8cd7-468248f02786" xsi:nil="true"/>
    <TaxCatchAll xmlns="f594d177-d642-47b0-8e2d-9f9f4078ea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36BE5AABA4CD4D998C2727A5A3706A" ma:contentTypeVersion="19" ma:contentTypeDescription="Create a new document." ma:contentTypeScope="" ma:versionID="884270206d6c93c1e5e772da76e83f53">
  <xsd:schema xmlns:xsd="http://www.w3.org/2001/XMLSchema" xmlns:xs="http://www.w3.org/2001/XMLSchema" xmlns:p="http://schemas.microsoft.com/office/2006/metadata/properties" xmlns:ns1="http://schemas.microsoft.com/sharepoint/v3" xmlns:ns2="0883416c-ef56-4f1e-8cd7-468248f02786" xmlns:ns3="f594d177-d642-47b0-8e2d-9f9f4078ea11" targetNamespace="http://schemas.microsoft.com/office/2006/metadata/properties" ma:root="true" ma:fieldsID="f2428425b875654c196841131e475868" ns1:_="" ns2:_="" ns3:_="">
    <xsd:import namespace="http://schemas.microsoft.com/sharepoint/v3"/>
    <xsd:import namespace="0883416c-ef56-4f1e-8cd7-468248f02786"/>
    <xsd:import namespace="f594d177-d642-47b0-8e2d-9f9f4078ea1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Author0" minOccurs="0"/>
                <xsd:element ref="ns2:Headquart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883416c-ef56-4f1e-8cd7-468248f027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Author0" ma:index="25" nillable="true" ma:displayName="Author" ma:format="Dropdown" ma:list="UserInfo" ma:SharePointGroup="0" ma:internalName="Author0">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Headquarters" ma:index="26" nillable="true" ma:displayName="Headquarters" ma:format="Dropdown" ma:internalName="Headquarters">
      <xsd:simpleType>
        <xsd:restriction base="dms:Choice">
          <xsd:enumeration value="Division East"/>
          <xsd:enumeration value="First Army"/>
          <xsd:enumeration value="177 CATB"/>
          <xsd:enumeration value="FORSCOM"/>
          <xsd:enumeration value="2-410"/>
          <xsd:enumeration value="Choice 6"/>
        </xsd:restriction>
      </xsd:simpleType>
    </xsd:element>
  </xsd:schema>
  <xsd:schema xmlns:xsd="http://www.w3.org/2001/XMLSchema" xmlns:xs="http://www.w3.org/2001/XMLSchema" xmlns:dms="http://schemas.microsoft.com/office/2006/documentManagement/types" xmlns:pc="http://schemas.microsoft.com/office/infopath/2007/PartnerControls" targetNamespace="f594d177-d642-47b0-8e2d-9f9f4078ea1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fa72c13-25d2-4d46-943d-0c03636ef5b8}" ma:internalName="TaxCatchAll" ma:showField="CatchAllData" ma:web="f594d177-d642-47b0-8e2d-9f9f4078ea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2F35FF-5D7D-42B3-AC4F-91A90C9DE9FF}">
  <ds:schemaRefs>
    <ds:schemaRef ds:uri="http://schemas.microsoft.com/sharepoint/v3/contenttype/forms"/>
  </ds:schemaRefs>
</ds:datastoreItem>
</file>

<file path=customXml/itemProps2.xml><?xml version="1.0" encoding="utf-8"?>
<ds:datastoreItem xmlns:ds="http://schemas.openxmlformats.org/officeDocument/2006/customXml" ds:itemID="{7EAEE05F-6851-4620-8124-80EB07180BA0}">
  <ds:schemaRefs>
    <ds:schemaRef ds:uri="http://schemas.microsoft.com/sharepoint/v3"/>
    <ds:schemaRef ds:uri="f594d177-d642-47b0-8e2d-9f9f4078ea11"/>
    <ds:schemaRef ds:uri="http://purl.org/dc/dcmitype/"/>
    <ds:schemaRef ds:uri="http://schemas.microsoft.com/office/2006/metadata/properties"/>
    <ds:schemaRef ds:uri="http://www.w3.org/XML/1998/namespace"/>
    <ds:schemaRef ds:uri="http://purl.org/dc/terms/"/>
    <ds:schemaRef ds:uri="http://schemas.microsoft.com/office/2006/documentManagement/types"/>
    <ds:schemaRef ds:uri="0883416c-ef56-4f1e-8cd7-468248f02786"/>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863A59AA-5617-4D2F-9458-62934D4991B2}">
  <ds:schemaRefs>
    <ds:schemaRef ds:uri="0883416c-ef56-4f1e-8cd7-468248f02786"/>
    <ds:schemaRef ds:uri="f594d177-d642-47b0-8e2d-9f9f4078ea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554eecc5-e26c-4620-b240-5a8bb326c33d}" enabled="1" method="Privileged" siteId="{fae6d70f-954b-4811-92b6-0530d6f84c43}" removed="0"/>
</clbl:labelList>
</file>

<file path=docProps/app.xml><?xml version="1.0" encoding="utf-8"?>
<Properties xmlns="http://schemas.openxmlformats.org/officeDocument/2006/extended-properties" xmlns:vt="http://schemas.openxmlformats.org/officeDocument/2006/docPropsVTypes">
  <Template>Office Theme</Template>
  <TotalTime>201</TotalTime>
  <Words>756</Words>
  <Application>Microsoft Office PowerPoint</Application>
  <PresentationFormat>On-screen Show (4:3)</PresentationFormat>
  <Paragraphs>130</Paragraphs>
  <Slides>17</Slides>
  <Notes>0</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ＭＳ Ｐゴシック</vt:lpstr>
      <vt:lpstr> Arial</vt:lpstr>
      <vt:lpstr>Aptos</vt:lpstr>
      <vt:lpstr>Aptos Display</vt:lpstr>
      <vt:lpstr>Arial</vt:lpstr>
      <vt:lpstr>Courier New</vt:lpstr>
      <vt:lpstr>Tahoma</vt:lpstr>
      <vt:lpstr>Wingdings</vt:lpstr>
      <vt:lpstr>Office Theme</vt:lpstr>
      <vt:lpstr>77th CSSB</vt:lpstr>
      <vt:lpstr>Agenda</vt:lpstr>
      <vt:lpstr>PowerPoint Presentation</vt:lpstr>
      <vt:lpstr>What is an AAR?</vt:lpstr>
      <vt:lpstr>Rules of the AAR</vt:lpstr>
      <vt:lpstr>PowerPoint Presentation</vt:lpstr>
      <vt:lpstr>MAAR Deliverables</vt:lpstr>
      <vt:lpstr>PowerPoint Presentation</vt:lpstr>
      <vt:lpstr>Battle Drill</vt:lpstr>
      <vt:lpstr>Reps &amp; Sets</vt:lpstr>
      <vt:lpstr>FAAR Deliverables</vt:lpstr>
      <vt:lpstr>Heroes of the Battle</vt:lpstr>
      <vt:lpstr>References</vt:lpstr>
      <vt:lpstr>Closing Remarks</vt:lpstr>
      <vt:lpstr>How do we conduct MA in 77th CSSB? MDMP</vt:lpstr>
      <vt:lpstr>Sustainment Shared Understanding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Haus, Michaela S CPT USARMY 177 AR BDE (USA)</dc:creator>
  <cp:lastModifiedBy>West, Brennan F CPT USARMY 177 AR BDE (USA)</cp:lastModifiedBy>
  <cp:revision>3</cp:revision>
  <cp:lastPrinted>2025-06-05T17:24:35Z</cp:lastPrinted>
  <dcterms:created xsi:type="dcterms:W3CDTF">2025-06-05T16:56:07Z</dcterms:created>
  <dcterms:modified xsi:type="dcterms:W3CDTF">2026-10-28T15:19:28Z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0x0101009836BE5AABA4CD4D998C2727A5A3706A</vt:lpwstr>
  </property>
  <property fmtid="{D5CDD505-2E9C-101B-9397-08002B2CF9AE}" pid="3" name="MediaServiceImageTags">
    <vt:lpwstr/>
  </property>
</Properties>
</file>